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6" r:id="rId3"/>
    <p:sldId id="258" r:id="rId4"/>
    <p:sldId id="260" r:id="rId5"/>
    <p:sldId id="261" r:id="rId6"/>
    <p:sldId id="295" r:id="rId7"/>
    <p:sldId id="296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9" r:id="rId17"/>
    <p:sldId id="298" r:id="rId18"/>
  </p:sldIdLst>
  <p:sldSz cx="12192000" cy="6858000"/>
  <p:notesSz cx="6858000" cy="9144000"/>
  <p:embeddedFontLst>
    <p:embeddedFont>
      <p:font typeface="Algerian" panose="04020705040A02060702" pitchFamily="82" charset="0"/>
      <p:regular r:id="rId20"/>
    </p:embeddedFont>
    <p:embeddedFont>
      <p:font typeface="Arial Black" panose="020B0A04020102020204" pitchFamily="34" charset="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Default Section" id="{1347CAF7-F204-4211-8FE1-33932034486D}">
          <p14:sldIdLst>
            <p14:sldId id="256"/>
            <p14:sldId id="286"/>
            <p14:sldId id="258"/>
            <p14:sldId id="260"/>
            <p14:sldId id="261"/>
            <p14:sldId id="295"/>
            <p14:sldId id="29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9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38466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819263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15</a:t>
            </a:fld>
            <a:endParaRPr lang="en-IN"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92" y="0"/>
            <a:ext cx="1219081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99" name="Google Shape;99;p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9689" y="3470540"/>
            <a:ext cx="1126617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altLang="en-GB" sz="3600" b="1" dirty="0">
                <a:solidFill>
                  <a:srgbClr val="FF0000"/>
                </a:solidFill>
                <a:latin typeface="Arial Black" panose="020B0A04020102020204" pitchFamily="34" charset="0"/>
                <a:sym typeface="Arial" panose="020B0604020202020204"/>
              </a:rPr>
              <a:t>Telangana State Weather Data Analysis</a:t>
            </a:r>
            <a:endParaRPr sz="3600" b="1" i="0" u="none" strike="noStrike" cap="none" dirty="0">
              <a:solidFill>
                <a:srgbClr val="FF0000"/>
              </a:solidFill>
              <a:latin typeface="Arial Black" panose="020B0A04020102020204" pitchFamily="34" charset="0"/>
              <a:sym typeface="Arial" panose="020B0604020202020204"/>
            </a:endParaRPr>
          </a:p>
        </p:txBody>
      </p:sp>
      <p:sp>
        <p:nvSpPr>
          <p:cNvPr id="13" name="TextBox 1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342969" y="2733365"/>
            <a:ext cx="542288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Arial Black" panose="020B0A04020102020204" pitchFamily="34" charset="0"/>
              </a:rPr>
              <a:t>PRESENTATION ON</a:t>
            </a:r>
            <a:endParaRPr lang="en-IN" sz="32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781367" y="4621161"/>
            <a:ext cx="6164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rial Black" panose="020B0A04020102020204" pitchFamily="34" charset="0"/>
              </a:rPr>
              <a:t>Presented By: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Name   : Yaddanapudi V S </a:t>
            </a:r>
            <a:r>
              <a:rPr lang="en-US" sz="2000" dirty="0" err="1">
                <a:solidFill>
                  <a:schemeClr val="tx1"/>
                </a:solidFill>
                <a:latin typeface="Arial Black" panose="020B0A04020102020204" pitchFamily="34" charset="0"/>
              </a:rPr>
              <a:t>S</a:t>
            </a:r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 Surya Teja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Batch   : 456</a:t>
            </a:r>
          </a:p>
          <a:p>
            <a:r>
              <a:rPr lang="en-US" sz="2000" dirty="0">
                <a:solidFill>
                  <a:schemeClr val="tx1"/>
                </a:solidFill>
                <a:latin typeface="Arial Black" panose="020B0A04020102020204" pitchFamily="34" charset="0"/>
              </a:rPr>
              <a:t>Branch : DILSUKHNAGAR</a:t>
            </a:r>
            <a:endParaRPr lang="en-IN" sz="2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5B1E87D4-0373-A511-DB18-CFF74438CE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470" y="6289041"/>
            <a:ext cx="2802194" cy="59758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275D644-E74D-5ECE-0E0A-A203CB610F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1317" y="3170632"/>
            <a:ext cx="2563044" cy="38864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6077" y="353961"/>
            <a:ext cx="10825317" cy="4770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About Me</a:t>
            </a: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b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My Name is Yaddanapudi V S S Surya Teja. 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 have completed my Bachelor of Technology in Computer Science and Engineering.</a:t>
            </a:r>
          </a:p>
          <a:p>
            <a:pPr lvl="0">
              <a:buClr>
                <a:schemeClr val="dk1"/>
              </a:buClr>
              <a:buSzPts val="2400"/>
            </a:pPr>
            <a:endParaRPr lang="en-US" sz="2400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LinkedIn : </a:t>
            </a:r>
            <a:r>
              <a:rPr lang="en-US" sz="2400" b="1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https://www.linkedin.com/in/suryateja-yaddanapudi/</a:t>
            </a: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endParaRPr lang="en-US" sz="2400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285750" lvl="0" indent="-323850">
              <a:buClr>
                <a:schemeClr val="dk1"/>
              </a:buClr>
              <a:buSzPts val="2400"/>
              <a:buFont typeface="Arial" panose="020B0604020202020204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GitHub : </a:t>
            </a:r>
            <a:r>
              <a:rPr lang="en-US" sz="2400" b="1" u="sng" dirty="0">
                <a:solidFill>
                  <a:srgbClr val="0563C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https://github.com/DudeAlpha007</a:t>
            </a:r>
          </a:p>
          <a:p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IN" sz="2400" b="1" dirty="0">
              <a:solidFill>
                <a:srgbClr val="FF0000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Agenda   </a:t>
            </a:r>
            <a:endParaRPr sz="4000" b="1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 Problem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</a:rPr>
              <a:t>Data Overview</a:t>
            </a:r>
            <a:endParaRPr lang="en-US" sz="2400" b="1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Overview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Insights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Conclusions </a:t>
            </a:r>
          </a:p>
          <a:p>
            <a:pPr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1999" cy="116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 panose="020F0502020204030204"/>
              <a:buNone/>
            </a:pP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IN" sz="40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  <a:endParaRPr sz="4000" b="1" dirty="0">
              <a:solidFill>
                <a:srgbClr val="FF0000"/>
              </a:solidFill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78350"/>
            <a:ext cx="10515600" cy="5092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/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plays a vital role in shaping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agriculture, water resources, public health, disaster management, and infrastructure planning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Understanding long-term weather behavior requires analyzing large volumes of data across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time, geography, and multiple climate parameters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/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Telangana, with its diverse districts and climatic conditions, experiences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significant variation in rainfall, temperature, humidity, and wind speed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Traditional analysis methods are insufficient to capture these patterns effectively.</a:t>
            </a:r>
          </a:p>
          <a:p>
            <a:pPr algn="l"/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project leverages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transform historical weather data into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interactive, visual, and actionable insights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enabling stakeholders to understand trends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 support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data-driven decision-making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at district and mandal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Problem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863B49-451B-D545-A247-6C49607BCC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254052" y="1312386"/>
            <a:ext cx="4542929" cy="4233227"/>
          </a:xfrm>
          <a:prstGeom prst="rect">
            <a:avLst/>
          </a:prstGeom>
        </p:spPr>
      </p:pic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99996" y="1144685"/>
            <a:ext cx="10515600" cy="522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conditions play a crucial role in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agriculture, water management, disaster preparedness, public health, and infrastructure planning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14300" indent="0" algn="l">
              <a:buNone/>
            </a:pPr>
            <a:r>
              <a:rPr lang="en-US" sz="24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However: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Weather data is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large, multi-dimensional, and spread across districts and mandals</a:t>
            </a:r>
            <a:endParaRPr lang="en-US" sz="24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Identifying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seasonal trends, anomalies, and extreme conditions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manually is difficult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Decision-makers lack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visual, district-level insights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for effective planning</a:t>
            </a:r>
          </a:p>
          <a:p>
            <a:pPr marL="114300" indent="0" algn="l">
              <a:buNone/>
            </a:pP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l">
              <a:buNone/>
            </a:pP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How can historical weather data of Telangana be transformed into </a:t>
            </a:r>
            <a:r>
              <a:rPr lang="en-US" sz="24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clear, actionable insights</a:t>
            </a:r>
            <a:r>
              <a:rPr lang="en-US" sz="24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to support data-driven decision-making?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0" y="18255"/>
            <a:ext cx="12192000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Project Objectives</a:t>
            </a:r>
            <a:br>
              <a:rPr lang="en-IN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174193"/>
            <a:ext cx="10515600" cy="5223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Analyze rainfall patterns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across districts, mandals, seasons, and years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Study temperature trends and extremes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 multiple geographic levels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Understand humidity variations and their seasonal behavior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Examine wind speed patterns and identify extreme wind events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Detected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xtreme weather conditions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Build interactive Reports for easy exploration and comparison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Enabled district-to-district comparison for informed planning</a:t>
            </a:r>
          </a:p>
        </p:txBody>
      </p:sp>
    </p:spTree>
    <p:extLst>
      <p:ext uri="{BB962C8B-B14F-4D97-AF65-F5344CB8AC3E}">
        <p14:creationId xmlns:p14="http://schemas.microsoft.com/office/powerpoint/2010/main" val="237728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991520" y="18255"/>
            <a:ext cx="9732552" cy="102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rgbClr val="FF0000"/>
              </a:buClr>
              <a:buSzPts val="4400"/>
            </a:pP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3600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rgbClr val="FF000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IN" b="1" i="0" dirty="0">
                <a:solidFill>
                  <a:srgbClr val="FF0000"/>
                </a:solidFill>
                <a:effectLst/>
                <a:latin typeface="Arial Black" panose="020B0A04020102020204" pitchFamily="34" charset="0"/>
              </a:rPr>
              <a:t>ata Overview</a:t>
            </a:r>
            <a:br>
              <a:rPr lang="en-IN" b="1" i="0" dirty="0">
                <a:solidFill>
                  <a:srgbClr val="FF0000"/>
                </a:solidFill>
                <a:effectLst/>
                <a:latin typeface="ui-sans-serif"/>
              </a:rPr>
            </a:br>
            <a:br>
              <a:rPr lang="en-IN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b="1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721901" y="1089860"/>
            <a:ext cx="11116137" cy="5310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2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 Dataset: 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Telangana State Weather Data</a:t>
            </a:r>
          </a:p>
          <a:p>
            <a:pPr lvl="1">
              <a:buFont typeface="+mj-lt"/>
              <a:buAutoNum type="arabicPeriod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Granularity</a:t>
            </a:r>
          </a:p>
          <a:p>
            <a:pPr lvl="1">
              <a:buFont typeface="+mj-lt"/>
              <a:buAutoNum type="arabicPeriod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District level</a:t>
            </a:r>
          </a:p>
          <a:p>
            <a:pPr lvl="1">
              <a:buFont typeface="+mj-lt"/>
              <a:buAutoNum type="arabicPeriod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Mandal level</a:t>
            </a:r>
          </a:p>
          <a:p>
            <a:pPr lvl="1">
              <a:buFont typeface="+mj-lt"/>
              <a:buAutoNum type="arabicPeriod"/>
            </a:pPr>
            <a:r>
              <a:rPr lang="en-US" sz="22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Daily observations</a:t>
            </a:r>
            <a:endParaRPr lang="en-US" sz="2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cleaned and transformed using Power Query Editor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 Date Table for time-based analysis: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Year, Month, Quarter, Season, Day, Weekday.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Built a star schema 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Weather (Fact table), Date Table (Dimension table).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DAX measure tables for: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Rainfall, Temperature, Humidity, Wind Speed.</a:t>
            </a: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Weather Parameters: </a:t>
            </a: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Rainfall (mm), Minimum &amp; Maximum Temperature (°C), Minimum &amp; Maximum Humidity (%), Minimum &amp; Maximum Wind Speed (Kmph).</a:t>
            </a:r>
          </a:p>
          <a:p>
            <a:pPr marL="114300" indent="0">
              <a:buNone/>
            </a:pPr>
            <a:endParaRPr lang="en-US" sz="2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l">
              <a:buNone/>
            </a:pPr>
            <a:endParaRPr lang="en-US" sz="2200" b="0" i="0" dirty="0"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068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eather report&#10;&#10;AI-generated content may be incorrect.">
            <a:extLst>
              <a:ext uri="{FF2B5EF4-FFF2-40B4-BE49-F238E27FC236}">
                <a16:creationId xmlns:a16="http://schemas.microsoft.com/office/drawing/2014/main" id="{D4C947A2-FADD-D554-C681-4F894D6EE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8" y="0"/>
            <a:ext cx="121569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505B3C-46E2-AC43-7081-7ECC703AD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2"/>
            <a:ext cx="12192000" cy="68498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AE0DE9E2-8F2E-353F-79ED-B9559A4C6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39"/>
            <a:ext cx="12192000" cy="683012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68CAA1-7C89-FFDB-370B-6A8B03396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6"/>
            <a:ext cx="12192000" cy="68487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BD56DD0-FC43-E85C-00E0-FDC3A1747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ud and rain drops&#10;&#10;AI-generated content may be incorrect.">
            <a:extLst>
              <a:ext uri="{FF2B5EF4-FFF2-40B4-BE49-F238E27FC236}">
                <a16:creationId xmlns:a16="http://schemas.microsoft.com/office/drawing/2014/main" id="{7EDA1021-14EA-3D6A-7751-8A226D67A5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271252" y="1645174"/>
            <a:ext cx="1410775" cy="1185548"/>
          </a:xfrm>
          <a:prstGeom prst="rect">
            <a:avLst/>
          </a:prstGeom>
        </p:spPr>
      </p:pic>
      <p:pic>
        <p:nvPicPr>
          <p:cNvPr id="18" name="Picture 17" descr="A blue and white water drop and waves&#10;&#10;AI-generated content may be incorrect.">
            <a:extLst>
              <a:ext uri="{FF2B5EF4-FFF2-40B4-BE49-F238E27FC236}">
                <a16:creationId xmlns:a16="http://schemas.microsoft.com/office/drawing/2014/main" id="{9BB6671E-F986-BCAE-666E-171D66A312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2478033" y="4166724"/>
            <a:ext cx="1582689" cy="1582689"/>
          </a:xfrm>
          <a:prstGeom prst="rect">
            <a:avLst/>
          </a:prstGeom>
        </p:spPr>
      </p:pic>
      <p:pic>
        <p:nvPicPr>
          <p:cNvPr id="20" name="Picture 19" descr="A cloud with wind blowing&#10;&#10;AI-generated content may be incorrect.">
            <a:extLst>
              <a:ext uri="{FF2B5EF4-FFF2-40B4-BE49-F238E27FC236}">
                <a16:creationId xmlns:a16="http://schemas.microsoft.com/office/drawing/2014/main" id="{F3D0F52C-A265-EECC-11FF-B65D394F3AA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tretch>
            <a:fillRect/>
          </a:stretch>
        </p:blipFill>
        <p:spPr>
          <a:xfrm>
            <a:off x="8337907" y="4166725"/>
            <a:ext cx="1700828" cy="170082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88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Key Insights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F8193-1D99-FA5C-F2A7-09FA80E30B0E}"/>
              </a:ext>
            </a:extLst>
          </p:cNvPr>
          <p:cNvSpPr txBox="1"/>
          <p:nvPr/>
        </p:nvSpPr>
        <p:spPr>
          <a:xfrm>
            <a:off x="698090" y="1146034"/>
            <a:ext cx="5397910" cy="2479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Rainfall Patterns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Over 80% of annual rainfall occurs during the monsoon season (June-September),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July contributing </a:t>
            </a:r>
            <a:r>
              <a:rPr lang="en-US" sz="1300" b="1" dirty="0">
                <a:solidFill>
                  <a:schemeClr val="tx1"/>
                </a:solidFill>
              </a:rPr>
              <a:t>~39%.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Spatial disparity: Bhadradri Kothagudem receives ~425 mm/year, while Hyderabad averages ~63.7 mm.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Mandal-level rainfall variation exceeds 60% within districts.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3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F43B37-1435-14D3-D5F2-FD80CF3195E4}"/>
              </a:ext>
            </a:extLst>
          </p:cNvPr>
          <p:cNvSpPr txBox="1"/>
          <p:nvPr/>
        </p:nvSpPr>
        <p:spPr>
          <a:xfrm>
            <a:off x="6390967" y="1095043"/>
            <a:ext cx="5102943" cy="245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/>
              <a:t>Temperature Trends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A gradual warming trend is observed from 2021 to 2024, with average maximum temperatures increasing from 33.72°C to 33.93°C.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/>
              <a:t>Summer months (April–June) experience extreme heat, with district averages reaching up to 46.8°C.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b="1" dirty="0"/>
              <a:t>District extremes</a:t>
            </a:r>
            <a:r>
              <a:rPr lang="en-US" sz="1300" dirty="0"/>
              <a:t>: Warangal records the highest temperatures; Adilabad experiences colder winter minimums.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45F082-2802-8D90-FFED-AB7FFF465BF9}"/>
              </a:ext>
            </a:extLst>
          </p:cNvPr>
          <p:cNvSpPr txBox="1"/>
          <p:nvPr/>
        </p:nvSpPr>
        <p:spPr>
          <a:xfrm>
            <a:off x="6378677" y="3621384"/>
            <a:ext cx="4975123" cy="245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Wind Speed Behavior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Peak speeds occur post-monsoon (Oct–Nov) at ~13.7 km/h, dropping to 8–10 km/h in summer.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Rangareddy records highest speeds (&gt;14 km/h).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Bhadradri Kothagudem sees 1,453 extreme wind days, mainly post-monsoon.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300" dirty="0">
                <a:latin typeface="Arial" panose="020B0604020202020204" pitchFamily="34" charset="0"/>
                <a:cs typeface="Arial" panose="020B0604020202020204" pitchFamily="34" charset="0"/>
              </a:rPr>
              <a:t>~35% of days experience wind speeds &gt;10 km/h, affecting agriculture, transport, and outdoor activities.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F56A18-17C3-E9CE-B1CC-7DB7987A6AAF}"/>
              </a:ext>
            </a:extLst>
          </p:cNvPr>
          <p:cNvSpPr txBox="1"/>
          <p:nvPr/>
        </p:nvSpPr>
        <p:spPr>
          <a:xfrm>
            <a:off x="698090" y="3621385"/>
            <a:ext cx="5397910" cy="2455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Humidity Dynamics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Maximum humidity peaks at 96–100% during monsoon; minimum falls to ~80% in winter.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Coastal districts (e.g., Khammam, Nalgonda) have 15–20% higher humidity than inland areas.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Over 36,000 extreme humidity instances (100%) detected in 4 years.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Monsoon increases daily humidity range by 15–25%, affecting respiratory and comfort-related health.</a:t>
            </a:r>
          </a:p>
        </p:txBody>
      </p:sp>
      <p:pic>
        <p:nvPicPr>
          <p:cNvPr id="16" name="Picture 15" descr="A thermometer and sun&#10;&#10;AI-generated content may be incorrect.">
            <a:extLst>
              <a:ext uri="{FF2B5EF4-FFF2-40B4-BE49-F238E27FC236}">
                <a16:creationId xmlns:a16="http://schemas.microsoft.com/office/drawing/2014/main" id="{3D566639-F42C-D868-1D11-A8EEA96C9D8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8389450" y="1564957"/>
            <a:ext cx="1531298" cy="15312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6930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  <a:latin typeface="Arial Black" panose="020B0A04020102020204" pitchFamily="34" charset="0"/>
              </a:rPr>
              <a:t>Conclusion</a:t>
            </a:r>
            <a:endParaRPr lang="en-IN" sz="40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25213" y="1170379"/>
            <a:ext cx="1074157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600" b="1" dirty="0"/>
              <a:t>Strong Seasonal Consistency</a:t>
            </a:r>
            <a:r>
              <a:rPr lang="en-US" sz="1600" b="1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Weather patterns in Telangana show </a:t>
            </a:r>
            <a:r>
              <a:rPr lang="en-US" sz="1600" b="1" dirty="0"/>
              <a:t>stable seasonal behavior</a:t>
            </a:r>
            <a:r>
              <a:rPr lang="en-US" sz="1600" dirty="0"/>
              <a:t> over four years, with concentrated monsoon rainfall, summer heat peaks, humidity surges, and post-monsoon wind activity—supporting reliable season-based planning.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b="1" dirty="0"/>
              <a:t>Clear Geographic Stratification: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Clear </a:t>
            </a:r>
            <a:r>
              <a:rPr lang="en-US" sz="1600" b="1" dirty="0"/>
              <a:t>geographic disparities</a:t>
            </a:r>
            <a:r>
              <a:rPr lang="en-US" sz="1600" dirty="0"/>
              <a:t> exist across the state. Western districts receive 3–4 times more rainfall, while coastal and eastern districts maintain 15–20% higher humidity levels year-round. Additionally, intra-district mandal variation exceeds 60%, indicating that district-level averages alone are insufficient for precise planning.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IN" sz="1600" b="1" dirty="0"/>
              <a:t>Rising Heat Risk</a:t>
            </a:r>
            <a:r>
              <a:rPr lang="en-US" sz="1600" b="1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A steady rise in average maximum temperature (0.05–0.07°C per year) is observed, with extreme summer temperatures reaching up to 46.80°C in certain districts. This highlights increasing heat stress risks and long-term climate vulnerability.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b="1" dirty="0"/>
              <a:t>Interdependency of Weather Metrics: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/>
              <a:t>Weather parameters do not operate in isolation. Clustering of high temperature, humidity, wind speed, and rainfall strongly influences public health, agriculture, and economic activity, reinforcing the need for multi-metric analysis rather than single-variable evaluation.</a:t>
            </a:r>
            <a:endParaRPr lang="en-IN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8649"/>
            <a:ext cx="10515600" cy="759482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solidFill>
                  <a:srgbClr val="FF0000"/>
                </a:solidFill>
                <a:latin typeface="Arial Black" panose="020B0A04020102020204" pitchFamily="34" charset="0"/>
              </a:rPr>
              <a:t>Recommendations</a:t>
            </a:r>
            <a:r>
              <a:rPr lang="en-IN" sz="4000" dirty="0"/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006621"/>
            <a:ext cx="10272252" cy="521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Agriculture &amp; Water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Adopt </a:t>
            </a:r>
            <a:r>
              <a:rPr lang="en-US" sz="1600" b="1" dirty="0"/>
              <a:t>district- and mandal-level planning</a:t>
            </a:r>
            <a:r>
              <a:rPr lang="en-US" sz="1600" dirty="0"/>
              <a:t> based on rainfall seasonality. Prioritize </a:t>
            </a:r>
            <a:r>
              <a:rPr lang="en-US" sz="1600" b="1" dirty="0"/>
              <a:t>monsoon water storage</a:t>
            </a:r>
            <a:r>
              <a:rPr lang="en-US" sz="1600" dirty="0"/>
              <a:t> in high-rainfall districts and </a:t>
            </a:r>
            <a:r>
              <a:rPr lang="en-US" sz="1600" b="1" dirty="0"/>
              <a:t>efficient irrigation and groundwater recharge</a:t>
            </a:r>
            <a:r>
              <a:rPr lang="en-US" sz="1600" dirty="0"/>
              <a:t> in low-rainfall regions to improve crop resilience.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Public Health &amp; Climate Risk Preparedness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Implement </a:t>
            </a:r>
            <a:r>
              <a:rPr lang="en-US" sz="1600" b="1" dirty="0"/>
              <a:t>heat-stress early warning systems</a:t>
            </a:r>
            <a:r>
              <a:rPr lang="en-US" sz="1600" dirty="0"/>
              <a:t> in high-risk districts and </a:t>
            </a:r>
            <a:r>
              <a:rPr lang="en-US" sz="1600" b="1" dirty="0"/>
              <a:t>develop a humidity–health monitoring dashboard</a:t>
            </a:r>
            <a:r>
              <a:rPr lang="en-US" sz="1600" dirty="0"/>
              <a:t> to predict and mitigate </a:t>
            </a:r>
            <a:r>
              <a:rPr lang="en-US" sz="1600" b="1" dirty="0"/>
              <a:t>respiratory and heat-related illnesses</a:t>
            </a:r>
            <a:r>
              <a:rPr lang="en-US" sz="1600" dirty="0"/>
              <a:t> during high-temperature and high-humidity periods, especially in monsoon months.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Infrastructure &amp; Transport Resilience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Strengthen </a:t>
            </a:r>
            <a:r>
              <a:rPr lang="en-US" sz="1600" b="1" dirty="0"/>
              <a:t>weather- and wind-resilient infrastructure standards</a:t>
            </a:r>
            <a:r>
              <a:rPr lang="en-US" sz="1600" dirty="0"/>
              <a:t> in districts prone to extreme post-monsoon winds, and align transport planning with seasonal weather patterns to reduce disruptions.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Real-Time Monitoring &amp; Decision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Expand </a:t>
            </a:r>
            <a:r>
              <a:rPr lang="en-US" sz="1600" b="1" dirty="0"/>
              <a:t>mandal-level weather monitoring</a:t>
            </a:r>
            <a:r>
              <a:rPr lang="en-US" sz="1600" dirty="0"/>
              <a:t> and integrate </a:t>
            </a:r>
            <a:r>
              <a:rPr lang="en-US" sz="1600" b="1" dirty="0"/>
              <a:t>real-time analytics and alerts</a:t>
            </a:r>
            <a:r>
              <a:rPr lang="en-US" sz="1600" dirty="0"/>
              <a:t> using Power BI to support proactive disaster management and policy decisions.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428A09E-59B8-61B1-5BF6-BBADAC2D93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201791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 up of a logo&#10;&#10;AI-generated content may be incorrect.">
            <a:extLst>
              <a:ext uri="{FF2B5EF4-FFF2-40B4-BE49-F238E27FC236}">
                <a16:creationId xmlns:a16="http://schemas.microsoft.com/office/drawing/2014/main" id="{BBF54551-A228-4720-E2C6-C8D91D75AE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6154" y="6170258"/>
            <a:ext cx="330563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73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6F2EEE-6EB4-3734-578D-ED019AA8E0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168" y="12423"/>
            <a:ext cx="12214168" cy="684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1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279</TotalTime>
  <Words>1027</Words>
  <Application>Microsoft Office PowerPoint</Application>
  <PresentationFormat>Widescreen</PresentationFormat>
  <Paragraphs>99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 Black</vt:lpstr>
      <vt:lpstr>Arial</vt:lpstr>
      <vt:lpstr>ui-sans-serif</vt:lpstr>
      <vt:lpstr>Calibri</vt:lpstr>
      <vt:lpstr>Office Theme</vt:lpstr>
      <vt:lpstr>PowerPoint Presentation</vt:lpstr>
      <vt:lpstr>PowerPoint Presentation</vt:lpstr>
      <vt:lpstr>Agenda   </vt:lpstr>
      <vt:lpstr>  Introduction</vt:lpstr>
      <vt:lpstr>  Business Problem </vt:lpstr>
      <vt:lpstr>   Project Objectives  </vt:lpstr>
      <vt:lpstr>   Data Overview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Insights</vt:lpstr>
      <vt:lpstr>Conclusion</vt:lpstr>
      <vt:lpstr>Recommendations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leosh leo</cp:lastModifiedBy>
  <cp:revision>45</cp:revision>
  <dcterms:created xsi:type="dcterms:W3CDTF">2021-02-16T05:19:00Z</dcterms:created>
  <dcterms:modified xsi:type="dcterms:W3CDTF">2026-01-05T14:29:47Z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C7457F408B1844C9A48AB71B2E94ED9B_12</vt:lpwstr>
  </property>
  <property fmtid="{D5CDD505-2E9C-101B-9397-08002B2CF9AE}" pid="3" name="KSOProductBuildVer">
    <vt:lpwstr>2057-12.2.0.23197</vt:lpwstr>
  </property>
</Properties>
</file>